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BM Plex Sans Medium"/>
      <p:regular r:id="rId17"/>
    </p:embeddedFont>
    <p:embeddedFont>
      <p:font typeface="IBM Plex Sans Medium"/>
      <p:regular r:id="rId18"/>
    </p:embeddedFont>
    <p:embeddedFont>
      <p:font typeface="IBM Plex Sans Medium"/>
      <p:regular r:id="rId19"/>
    </p:embeddedFont>
    <p:embeddedFont>
      <p:font typeface="IBM Plex Sans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478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Depression Detection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69676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automated mental health risk detection system using social media text, combining classical machine learning with large language model (LLM)-based approaches.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040624"/>
            <a:ext cx="3443526" cy="426244"/>
          </a:xfrm>
          <a:prstGeom prst="roundRect">
            <a:avLst>
              <a:gd name="adj" fmla="val 6386"/>
            </a:avLst>
          </a:prstGeom>
          <a:solidFill>
            <a:srgbClr val="4D1F00"/>
          </a:solidFill>
          <a:ln/>
        </p:spPr>
      </p:sp>
      <p:sp>
        <p:nvSpPr>
          <p:cNvPr id="6" name="Text 3"/>
          <p:cNvSpPr/>
          <p:nvPr/>
        </p:nvSpPr>
        <p:spPr>
          <a:xfrm>
            <a:off x="6416278" y="4108609"/>
            <a:ext cx="317134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MAJOR PROJECT PART-II · 15B19CI791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80190" y="4926092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Rishita Singh (9922102094), Shinthil Singh (9922103021), Shikhar Maheshwari (9922103029)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4926092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Supervisor: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Dr. Devpriya Soni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CSE &amp; IT, JIIT Noida · April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15898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Chapter 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201460" y="848082"/>
            <a:ext cx="7017068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Introduction &amp; Problem Statement</a:t>
            </a:r>
            <a:endParaRPr lang="en-US" sz="3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460" y="1765221"/>
            <a:ext cx="7796451" cy="44179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37727" y="236089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Background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437727" y="2776061"/>
            <a:ext cx="3998595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Depression affects millions globally. Traditional diagnostic methods are time-consuming, subjective, and hard to scale. As social media use rises, platforms like Reddit offer vast user-generated content revealing mental health signals.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437727" y="4176474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437727" y="4591645"/>
            <a:ext cx="399859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posts use informal language, noise, and subtle cues — like distress patterns or implied suicidal intent — that conventional models struggle to capture consistently.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201460" y="6494621"/>
            <a:ext cx="3983474" cy="1218962"/>
          </a:xfrm>
          <a:prstGeom prst="roundRect">
            <a:avLst>
              <a:gd name="adj" fmla="val 2181"/>
            </a:avLst>
          </a:prstGeom>
          <a:solidFill>
            <a:srgbClr val="484B51"/>
          </a:solidFill>
          <a:ln/>
        </p:spPr>
      </p:sp>
      <p:sp>
        <p:nvSpPr>
          <p:cNvPr id="10" name="Text 7"/>
          <p:cNvSpPr/>
          <p:nvPr/>
        </p:nvSpPr>
        <p:spPr>
          <a:xfrm>
            <a:off x="1378625" y="667178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Scalability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378625" y="7031593"/>
            <a:ext cx="362914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review of large social media volumes is impractical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323284" y="6494621"/>
            <a:ext cx="3983593" cy="1218962"/>
          </a:xfrm>
          <a:prstGeom prst="roundRect">
            <a:avLst>
              <a:gd name="adj" fmla="val 2181"/>
            </a:avLst>
          </a:prstGeom>
          <a:solidFill>
            <a:srgbClr val="484B51"/>
          </a:solidFill>
          <a:ln/>
        </p:spPr>
      </p:sp>
      <p:sp>
        <p:nvSpPr>
          <p:cNvPr id="13" name="Text 10"/>
          <p:cNvSpPr/>
          <p:nvPr/>
        </p:nvSpPr>
        <p:spPr>
          <a:xfrm>
            <a:off x="5500449" y="667178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Diversity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500449" y="7031593"/>
            <a:ext cx="362926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Varied writing styles, noise, and class imbalance affect accuracy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445228" y="6494621"/>
            <a:ext cx="3983474" cy="1218962"/>
          </a:xfrm>
          <a:prstGeom prst="roundRect">
            <a:avLst>
              <a:gd name="adj" fmla="val 2181"/>
            </a:avLst>
          </a:prstGeom>
          <a:solidFill>
            <a:srgbClr val="484B51"/>
          </a:solidFill>
          <a:ln/>
        </p:spPr>
      </p:sp>
      <p:sp>
        <p:nvSpPr>
          <p:cNvPr id="16" name="Text 13"/>
          <p:cNvSpPr/>
          <p:nvPr/>
        </p:nvSpPr>
        <p:spPr>
          <a:xfrm>
            <a:off x="9622393" y="667178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Generalization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622393" y="7031593"/>
            <a:ext cx="362914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 often fail across different platforms and datasets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500182"/>
            <a:ext cx="2740938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Chapter 1 · Solution Approach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1812846" y="794028"/>
            <a:ext cx="5014674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System Overview &amp; Novelty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812846" y="1460540"/>
            <a:ext cx="1100459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modular, end-to-end pipeline integrating classical NLP-based ML with LLM-based methods — enabling a unified comparison within a single framework.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253" y="1803916"/>
            <a:ext cx="9817656" cy="53647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00899" y="4317605"/>
            <a:ext cx="2274812" cy="30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Text Preprocessing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445185" y="4282700"/>
            <a:ext cx="2274813" cy="30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Feature Extraction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39069" y="4293877"/>
            <a:ext cx="2274811" cy="30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Classification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812846" y="7294721"/>
            <a:ext cx="11004590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novelty lies in combining supervised classifiers with prompt-based zero-shot and few-shot LLM inference, cross-domain transfer experiments, and detailed error analysis — all under consistent MiniLM embeddings for fair comparison.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6041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Chapter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94611" y="983694"/>
            <a:ext cx="787919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Literature Survey &amp; Research Gaps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94611" y="2037755"/>
            <a:ext cx="276165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Evolution of Approaches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4215527" y="2543175"/>
            <a:ext cx="22860" cy="4887039"/>
          </a:xfrm>
          <a:prstGeom prst="roundRect">
            <a:avLst>
              <a:gd name="adj" fmla="val 130232"/>
            </a:avLst>
          </a:prstGeom>
          <a:solidFill>
            <a:srgbClr val="61646A"/>
          </a:solidFill>
          <a:ln/>
        </p:spPr>
      </p:sp>
      <p:sp>
        <p:nvSpPr>
          <p:cNvPr id="6" name="Shape 4"/>
          <p:cNvSpPr/>
          <p:nvPr/>
        </p:nvSpPr>
        <p:spPr>
          <a:xfrm>
            <a:off x="3431262" y="2754987"/>
            <a:ext cx="595313" cy="22860"/>
          </a:xfrm>
          <a:prstGeom prst="roundRect">
            <a:avLst>
              <a:gd name="adj" fmla="val 130232"/>
            </a:avLst>
          </a:prstGeom>
          <a:solidFill>
            <a:srgbClr val="61646A"/>
          </a:solidFill>
          <a:ln/>
        </p:spPr>
      </p:sp>
      <p:sp>
        <p:nvSpPr>
          <p:cNvPr id="7" name="Shape 5"/>
          <p:cNvSpPr/>
          <p:nvPr/>
        </p:nvSpPr>
        <p:spPr>
          <a:xfrm>
            <a:off x="4003715" y="2543175"/>
            <a:ext cx="446484" cy="44648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8" name="Text 6"/>
          <p:cNvSpPr/>
          <p:nvPr/>
        </p:nvSpPr>
        <p:spPr>
          <a:xfrm>
            <a:off x="4078129" y="258038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53785" y="26113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Traditional ML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94611" y="3095149"/>
            <a:ext cx="2540079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TF-IDF, n-grams, LR/SVM — ~70–75% accuracy. Simple but no contextual understanding.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427339" y="3896082"/>
            <a:ext cx="595313" cy="22860"/>
          </a:xfrm>
          <a:prstGeom prst="roundRect">
            <a:avLst>
              <a:gd name="adj" fmla="val 130232"/>
            </a:avLst>
          </a:prstGeom>
          <a:solidFill>
            <a:srgbClr val="61646A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3715" y="3684270"/>
            <a:ext cx="446484" cy="44648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3" name="Text 11"/>
          <p:cNvSpPr/>
          <p:nvPr/>
        </p:nvSpPr>
        <p:spPr>
          <a:xfrm>
            <a:off x="4078129" y="372147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219224" y="37524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Deep Learning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219224" y="4236244"/>
            <a:ext cx="2540079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LSTM/CNN — ~78%. Captures sequence dependencies but needs large labelled data.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3431262" y="4940975"/>
            <a:ext cx="595313" cy="22860"/>
          </a:xfrm>
          <a:prstGeom prst="roundRect">
            <a:avLst>
              <a:gd name="adj" fmla="val 130232"/>
            </a:avLst>
          </a:prstGeom>
          <a:solidFill>
            <a:srgbClr val="61646A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3715" y="472916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8" name="Text 16"/>
          <p:cNvSpPr/>
          <p:nvPr/>
        </p:nvSpPr>
        <p:spPr>
          <a:xfrm>
            <a:off x="4078129" y="476637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53785" y="47973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Transformers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94611" y="5281136"/>
            <a:ext cx="2540079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BERT/SBERT — ~80–85%. Strong context, but high computational cost.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427339" y="5985986"/>
            <a:ext cx="595313" cy="22860"/>
          </a:xfrm>
          <a:prstGeom prst="roundRect">
            <a:avLst>
              <a:gd name="adj" fmla="val 130232"/>
            </a:avLst>
          </a:prstGeom>
          <a:solidFill>
            <a:srgbClr val="61646A"/>
          </a:solidFill>
          <a:ln/>
        </p:spPr>
      </p:sp>
      <p:sp>
        <p:nvSpPr>
          <p:cNvPr id="22" name="Shape 20"/>
          <p:cNvSpPr/>
          <p:nvPr/>
        </p:nvSpPr>
        <p:spPr>
          <a:xfrm>
            <a:off x="4003715" y="5774174"/>
            <a:ext cx="446484" cy="44648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23" name="Text 21"/>
          <p:cNvSpPr/>
          <p:nvPr/>
        </p:nvSpPr>
        <p:spPr>
          <a:xfrm>
            <a:off x="4078129" y="581138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5219224" y="58423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LLMs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5219224" y="6326148"/>
            <a:ext cx="2540079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Zero-shot/few-shot — ~55–70%. No training needed, but prompt-dependent.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108156" y="1864162"/>
            <a:ext cx="5978009" cy="5761315"/>
          </a:xfrm>
          <a:prstGeom prst="roundRect">
            <a:avLst>
              <a:gd name="adj" fmla="val 517"/>
            </a:avLst>
          </a:prstGeom>
          <a:solidFill>
            <a:srgbClr val="FFBC8F"/>
          </a:solidFill>
          <a:ln/>
        </p:spPr>
      </p:sp>
      <p:sp>
        <p:nvSpPr>
          <p:cNvPr id="27" name="Text 25"/>
          <p:cNvSpPr/>
          <p:nvPr/>
        </p:nvSpPr>
        <p:spPr>
          <a:xfrm>
            <a:off x="8306514" y="203775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Research Gaps</a:t>
            </a:r>
            <a:endParaRPr lang="en-US" sz="19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0928" y="2552938"/>
            <a:ext cx="297656" cy="29765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951357" y="2543175"/>
            <a:ext cx="49364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unified comparison of ML, DL, and LLM approaches</a:t>
            </a:r>
            <a:endParaRPr lang="en-US" sz="15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0928" y="3505438"/>
            <a:ext cx="297656" cy="29765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951357" y="3495675"/>
            <a:ext cx="493645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prompt sensitivity and few-shot vs zero-shot analysis</a:t>
            </a:r>
            <a:endParaRPr lang="en-US" sz="15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0928" y="4457938"/>
            <a:ext cx="297656" cy="29765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951357" y="4448175"/>
            <a:ext cx="49364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cross-domain testing across platforms</a:t>
            </a:r>
            <a:endParaRPr lang="en-US" sz="155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0928" y="5410438"/>
            <a:ext cx="297656" cy="2976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951357" y="5400675"/>
            <a:ext cx="49364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studies skip detailed error analysis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1954" y="462201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301954" y="726400"/>
            <a:ext cx="5968603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System Architecture &amp; Methodology</a:t>
            </a:r>
            <a:endParaRPr lang="en-US" sz="2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954" y="1424583"/>
            <a:ext cx="6393180" cy="62380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7084" y="1942386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Pipeline Stages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57084" y="2274094"/>
            <a:ext cx="29051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057084" y="2505789"/>
            <a:ext cx="3278862" cy="1524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8" name="Text 5"/>
          <p:cNvSpPr/>
          <p:nvPr/>
        </p:nvSpPr>
        <p:spPr>
          <a:xfrm>
            <a:off x="9057084" y="2608898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57084" y="2928938"/>
            <a:ext cx="3278862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Reddit posts from depression, anxiety, and suicide watch communities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057084" y="3512106"/>
            <a:ext cx="29051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057084" y="3743801"/>
            <a:ext cx="3278862" cy="1524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2" name="Text 9"/>
          <p:cNvSpPr/>
          <p:nvPr/>
        </p:nvSpPr>
        <p:spPr>
          <a:xfrm>
            <a:off x="9057084" y="3846909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057084" y="4166949"/>
            <a:ext cx="3278862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URLs, mentions, special characters; normalize and filter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57084" y="4750117"/>
            <a:ext cx="29051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57084" y="4981813"/>
            <a:ext cx="3278862" cy="1524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6" name="Text 13"/>
          <p:cNvSpPr/>
          <p:nvPr/>
        </p:nvSpPr>
        <p:spPr>
          <a:xfrm>
            <a:off x="9057084" y="5084921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MiniLM Embeddings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057084" y="5404961"/>
            <a:ext cx="3278862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cleaned text to dense semantic vectors (all-MiniLM-L6-v2)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057084" y="5988129"/>
            <a:ext cx="29051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57084" y="6219825"/>
            <a:ext cx="3278862" cy="1524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0" name="Text 17"/>
          <p:cNvSpPr/>
          <p:nvPr/>
        </p:nvSpPr>
        <p:spPr>
          <a:xfrm>
            <a:off x="9057084" y="6322933"/>
            <a:ext cx="2207776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Classification &amp; Evaluation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057084" y="6642973"/>
            <a:ext cx="3278862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LR, SVM, MLP + Zero/Few-shot LLM; metrics: Accuracy, Precision, Recall, F1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197" y="570309"/>
            <a:ext cx="270902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Chapter 3 · Design Choices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20197" y="902494"/>
            <a:ext cx="6113978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Tools, Techniques &amp; Modelling</a:t>
            </a:r>
            <a:endParaRPr lang="en-US" sz="3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197" y="1663898"/>
            <a:ext cx="442913" cy="4429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0197" y="227980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Python Stack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20197" y="2639616"/>
            <a:ext cx="790360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Pandas, NumPy, Scikit-learn, Sentence Transformers, Matplotlib/Seaborn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197" y="3168848"/>
            <a:ext cx="442913" cy="4429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0197" y="378475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MiniLM?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20197" y="4144566"/>
            <a:ext cx="790360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Lightweight, CPU-efficient, captures semantic meaning; embeddings reusable across all classifiers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197" y="4673798"/>
            <a:ext cx="442913" cy="4429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0197" y="5289709"/>
            <a:ext cx="228695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Classical Models?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620197" y="5649516"/>
            <a:ext cx="790360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Interpretable, efficient training, strong baselines — LR (linear), SVM (margin), MLP (non-linear)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197" y="6178748"/>
            <a:ext cx="442913" cy="4429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0197" y="679465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LLMs?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620197" y="7154466"/>
            <a:ext cx="790360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 inference without training; useful in low-data scenarios using BART (facebook/bart-large-mnli)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9031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Chapter 4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2228" y="961787"/>
            <a:ext cx="580167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Implementation &amp; Testing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2228" y="198953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Experimental Setup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2228" y="2482453"/>
            <a:ext cx="3113842" cy="1487329"/>
          </a:xfrm>
          <a:prstGeom prst="roundRect">
            <a:avLst>
              <a:gd name="adj" fmla="val 1966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9993" y="270021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Hardware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9993" y="3172182"/>
            <a:ext cx="267831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CPU (8–16 GB RAM), no GPU required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63472" y="2482453"/>
            <a:ext cx="3113961" cy="1487329"/>
          </a:xfrm>
          <a:prstGeom prst="roundRect">
            <a:avLst>
              <a:gd name="adj" fmla="val 1966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81237" y="270021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Sample Size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181237" y="3172182"/>
            <a:ext cx="2678430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 balanced posts; stratified cross-validation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2228" y="4137184"/>
            <a:ext cx="6395204" cy="1197412"/>
          </a:xfrm>
          <a:prstGeom prst="roundRect">
            <a:avLst>
              <a:gd name="adj" fmla="val 2442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993" y="435494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LLM Model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99993" y="4826913"/>
            <a:ext cx="595967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facebook/bart-large-mnli for zero-shot classification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0588" y="198953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Sample Test Cases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560588" y="2482453"/>
            <a:ext cx="6395204" cy="3736062"/>
          </a:xfrm>
          <a:prstGeom prst="roundRect">
            <a:avLst>
              <a:gd name="adj" fmla="val 78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64066" y="2598182"/>
            <a:ext cx="173247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Text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893975" y="2598182"/>
            <a:ext cx="172866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20074" y="2598182"/>
            <a:ext cx="173247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64066" y="3111937"/>
            <a:ext cx="1732478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 feel very lonely and lost"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893975" y="3111937"/>
            <a:ext cx="172866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MH Risk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020074" y="3111937"/>
            <a:ext cx="173247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Correct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64066" y="3915608"/>
            <a:ext cx="1732478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 want to end everything"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93975" y="3915608"/>
            <a:ext cx="172866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Risk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20074" y="3915608"/>
            <a:ext cx="173247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Correct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64066" y="4719280"/>
            <a:ext cx="1732478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 am tired but managing"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93975" y="4719280"/>
            <a:ext cx="172866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MH Risk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020074" y="4719280"/>
            <a:ext cx="173247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Incorrect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64066" y="5522952"/>
            <a:ext cx="1732478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"Nothing matters anymore"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93975" y="5522952"/>
            <a:ext cx="172866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Risk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020074" y="5522952"/>
            <a:ext cx="173247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Incorrect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560588" y="6406872"/>
            <a:ext cx="6395204" cy="1044059"/>
          </a:xfrm>
          <a:prstGeom prst="roundRect">
            <a:avLst>
              <a:gd name="adj" fmla="val 2801"/>
            </a:avLst>
          </a:prstGeom>
          <a:solidFill>
            <a:srgbClr val="022349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5493" y="6693218"/>
            <a:ext cx="243602" cy="19490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194000" y="6622971"/>
            <a:ext cx="556688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designed for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assistive analysis only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not clinical diagnosis. Human review required for flagged cases.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55304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Chapter 5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46014" y="869752"/>
            <a:ext cx="809065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Results: Classical ML vs LLM Performance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014" y="3211473"/>
            <a:ext cx="7484507" cy="28461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53193" y="172021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Findings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353193" y="2129433"/>
            <a:ext cx="3838575" cy="1255276"/>
          </a:xfrm>
          <a:prstGeom prst="roundRect">
            <a:avLst>
              <a:gd name="adj" fmla="val 874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30333" y="2129433"/>
            <a:ext cx="91440" cy="1255276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8" name="Text 5"/>
          <p:cNvSpPr/>
          <p:nvPr/>
        </p:nvSpPr>
        <p:spPr>
          <a:xfrm>
            <a:off x="9614654" y="2322314"/>
            <a:ext cx="217610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SVM — Best Performer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614654" y="2715578"/>
            <a:ext cx="338423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~79% accuracy, ~0.79 weighted F1. Effective margin-based separation of embeddings.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353193" y="3512225"/>
            <a:ext cx="3838575" cy="1255276"/>
          </a:xfrm>
          <a:prstGeom prst="roundRect">
            <a:avLst>
              <a:gd name="adj" fmla="val 874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30333" y="3512225"/>
            <a:ext cx="91440" cy="1255276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12" name="Text 9"/>
          <p:cNvSpPr/>
          <p:nvPr/>
        </p:nvSpPr>
        <p:spPr>
          <a:xfrm>
            <a:off x="9614654" y="370510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MLP &amp; LR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614654" y="4098369"/>
            <a:ext cx="338423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~77% and ~76% F1 respectively. All classical models outperform LLM-based methods.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353193" y="4895017"/>
            <a:ext cx="3838575" cy="1255276"/>
          </a:xfrm>
          <a:prstGeom prst="roundRect">
            <a:avLst>
              <a:gd name="adj" fmla="val 874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30333" y="4895017"/>
            <a:ext cx="91440" cy="1255276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16" name="Text 13"/>
          <p:cNvSpPr/>
          <p:nvPr/>
        </p:nvSpPr>
        <p:spPr>
          <a:xfrm>
            <a:off x="9614654" y="508789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Zero-shot LLM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9614654" y="5481161"/>
            <a:ext cx="338423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~0.70 F1 with best prompt — viable in low-data settings but unstable.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353193" y="6277808"/>
            <a:ext cx="3838575" cy="1255276"/>
          </a:xfrm>
          <a:prstGeom prst="roundRect">
            <a:avLst>
              <a:gd name="adj" fmla="val 874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30333" y="6277808"/>
            <a:ext cx="91440" cy="1255276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20" name="Text 17"/>
          <p:cNvSpPr/>
          <p:nvPr/>
        </p:nvSpPr>
        <p:spPr>
          <a:xfrm>
            <a:off x="9614654" y="647069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BART Zero-shot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9614654" y="6863953"/>
            <a:ext cx="338423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~0.55 F1 — weakest performer; confirms LLMs need careful prompt design.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0172" y="372904"/>
            <a:ext cx="14619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Chapter 5 · Deep Dive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3280172" y="579715"/>
            <a:ext cx="6690479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Prompt Sensitivity, Error Analysis &amp; Cross-Domain</a:t>
            </a:r>
            <a:endParaRPr lang="en-US" sz="2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0172" y="1035606"/>
            <a:ext cx="5555456" cy="3600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80172" y="4704159"/>
            <a:ext cx="8070056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B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(~0.70 F1) vs </a:t>
            </a:r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C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(~0.41 F1) — a 30-point gap from prompt wording alone.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280172" y="4936212"/>
            <a:ext cx="175152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Error Analysis Distribution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880723" y="5969437"/>
            <a:ext cx="1438394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52%</a:t>
            </a:r>
            <a:endParaRPr lang="en-US" sz="2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846" y="5238512"/>
            <a:ext cx="1754267" cy="17542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69055" y="7082195"/>
            <a:ext cx="14619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Agreement Correct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280172" y="7301032"/>
            <a:ext cx="2639735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ML and LLM agree on correct prediction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595824" y="5969437"/>
            <a:ext cx="1438394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25%</a:t>
            </a:r>
            <a:endParaRPr lang="en-US" sz="2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948" y="5238512"/>
            <a:ext cx="1754267" cy="17542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4156" y="7082195"/>
            <a:ext cx="14619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LLM Advantage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995273" y="7301032"/>
            <a:ext cx="2639735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better on context-heavy cases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9310926" y="5969437"/>
            <a:ext cx="1438394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17%</a:t>
            </a:r>
            <a:endParaRPr lang="en-US" sz="2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049" y="5238512"/>
            <a:ext cx="1754267" cy="175426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99258" y="7082195"/>
            <a:ext cx="14619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Classical Advantage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8710374" y="7301032"/>
            <a:ext cx="2639735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better on structured patterns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3280172" y="7510463"/>
            <a:ext cx="8070056" cy="346234"/>
          </a:xfrm>
          <a:prstGeom prst="roundRect">
            <a:avLst>
              <a:gd name="adj" fmla="val 5067"/>
            </a:avLst>
          </a:prstGeom>
          <a:solidFill>
            <a:srgbClr val="4B3F0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7091" y="7660838"/>
            <a:ext cx="146090" cy="11691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660100" y="7599878"/>
            <a:ext cx="757320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 shows bias toward majority class — high false negatives in high-risk suicidal cases (64 misclassified out of 100).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344" y="522922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Chapter 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57344" y="878562"/>
            <a:ext cx="5764530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 &amp; Future Scope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57344" y="185427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Achievements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7344" y="2322671"/>
            <a:ext cx="422553" cy="422553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7" name="Text 4"/>
          <p:cNvSpPr/>
          <p:nvPr/>
        </p:nvSpPr>
        <p:spPr>
          <a:xfrm>
            <a:off x="1235392" y="2387203"/>
            <a:ext cx="3107531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SVM achieved best performance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35392" y="3129677"/>
            <a:ext cx="3107531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~79% accuracy and F1 using MiniLM embeddings on Reddit data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7344" y="3990142"/>
            <a:ext cx="422553" cy="422553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0" name="Text 7"/>
          <p:cNvSpPr/>
          <p:nvPr/>
        </p:nvSpPr>
        <p:spPr>
          <a:xfrm>
            <a:off x="1235392" y="4054673"/>
            <a:ext cx="304657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Unified ML + LLM framework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5392" y="4503658"/>
            <a:ext cx="3107531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comparison of classical models and zero/few-shot LLMs in a single pipeline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7344" y="5638800"/>
            <a:ext cx="422553" cy="422553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3" name="Text 10"/>
          <p:cNvSpPr/>
          <p:nvPr/>
        </p:nvSpPr>
        <p:spPr>
          <a:xfrm>
            <a:off x="1235392" y="5703332"/>
            <a:ext cx="268116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Cost-effective &amp; scalable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35392" y="6152317"/>
            <a:ext cx="3107531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CPU-based, open-source, no paid APIs — suitable for resource-constrained environments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808696" y="185427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Future Directions</a:t>
            </a:r>
            <a:endParaRPr lang="en-US" sz="1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9062" y="2332018"/>
            <a:ext cx="281702" cy="2817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19011" y="2322671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Fine-tune BERT/RoBERTa for improved contextual classification</a:t>
            </a:r>
            <a:endParaRPr lang="en-US" sz="14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9062" y="3215938"/>
            <a:ext cx="281702" cy="2817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19011" y="3206591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multimodal data — speech, facial expressions, behavioural cues</a:t>
            </a:r>
            <a:endParaRPr lang="en-US" sz="14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9062" y="4099858"/>
            <a:ext cx="281702" cy="2817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19011" y="4090511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prompt optimisation for LLM-based inference</a:t>
            </a:r>
            <a:endParaRPr lang="en-US" sz="14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79062" y="4983778"/>
            <a:ext cx="281702" cy="2817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19011" y="4974431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social media monitoring with human-in-the-loop safeguards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4808696" y="5722144"/>
            <a:ext cx="3685580" cy="1809512"/>
          </a:xfrm>
          <a:prstGeom prst="roundRect">
            <a:avLst>
              <a:gd name="adj" fmla="val 1557"/>
            </a:avLst>
          </a:prstGeom>
          <a:solidFill>
            <a:srgbClr val="183A13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6458" y="5990630"/>
            <a:ext cx="234791" cy="18776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19011" y="5924550"/>
            <a:ext cx="2887504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system acts as an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assistive screening tool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supporting early intervention in mental health with ethical, scalable, and reproducible AI.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2026-04-30T06:25:26Z</dcterms:created>
  <dcterms:modified xsi:type="dcterms:W3CDTF">2026-04-30T06:25:26Z</dcterms:modified>
</cp:coreProperties>
</file>